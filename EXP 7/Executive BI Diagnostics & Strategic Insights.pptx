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Inter"/>
      <p:bold r:id="rId8"/>
    </p:embeddedFont>
    <p:embeddedFont>
      <p:font typeface="Space Grotesk"/>
      <p:bold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715000"/>
            <a:ext cx="10972800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5715000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408384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Space Grotesk"/>
              </a:rPr>
              <a:t>EXPERIMENT 07 // EXECUTIVE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44075" y="533400"/>
            <a:ext cx="2297906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Microsoft Power BI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259359"/>
            <a:ext cx="9101137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8FAFC"/>
                </a:solidFill>
                <a:latin typeface="Space Grotesk"/>
              </a:rPr>
              <a:t>Advanced Diagnostic Analytics &amp; Strategic BI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588990"/>
            <a:ext cx="7334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Transforming multi-dimensional Superstore transaction telemetry into root-cause operational insights, profitability controls, and leadership decisions.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953125"/>
            <a:ext cx="32385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Inter"/>
              </a:rPr>
              <a:t>PRIMARY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134100"/>
            <a:ext cx="3238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E2E8F0"/>
                </a:solidFill>
                <a:latin typeface="Inter"/>
              </a:rPr>
              <a:t>Global Superstore (51,290 Records)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1400" y="5953125"/>
            <a:ext cx="370284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Inter"/>
              </a:rPr>
              <a:t>CORE ANALYTICAL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1400" y="6134100"/>
            <a:ext cx="370284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E2E8F0"/>
                </a:solidFill>
                <a:latin typeface="Inter"/>
              </a:rPr>
              <a:t>Diagnostic Variance &amp; Profit 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24675" y="5953125"/>
            <a:ext cx="294084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Inter"/>
              </a:rPr>
              <a:t>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4675" y="6134100"/>
            <a:ext cx="294084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Power BI Desktop &amp; DAX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38850" y="1257300"/>
            <a:ext cx="5619750" cy="5181600"/>
          </a:xfrm>
          <a:prstGeom prst="roundRect">
            <a:avLst>
              <a:gd name="adj" fmla="val 2205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533400" y="3390007"/>
            <a:ext cx="5200650" cy="104775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5522714"/>
            <a:ext cx="5200650" cy="916185"/>
          </a:xfrm>
          <a:prstGeom prst="roundRect">
            <a:avLst>
              <a:gd name="adj" fmla="val 10396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1257300"/>
            <a:ext cx="2524125" cy="104775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9925" y="1257300"/>
            <a:ext cx="2524125" cy="104775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3390007"/>
            <a:ext cx="38100" cy="10477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3400" y="1257300"/>
            <a:ext cx="38100" cy="10477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9925" y="1257300"/>
            <a:ext cx="38100" cy="10477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3400" y="419100"/>
            <a:ext cx="112204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Inter"/>
              </a:rPr>
              <a:t>Performance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647700"/>
            <a:ext cx="116586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Executive Scorecard &amp; Quota Variance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3751957"/>
            <a:ext cx="6024562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Inter"/>
              </a:rPr>
              <a:t>$1.47M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4113907"/>
            <a:ext cx="60245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97706"/>
                </a:solidFill>
                <a:latin typeface="Inter"/>
              </a:rPr>
              <a:t>97.83% of Target ($1.5M)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900" y="5675114"/>
            <a:ext cx="632579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369A1"/>
                </a:solidFill>
                <a:latin typeface="Space Grotesk"/>
              </a:rPr>
              <a:t>Key Diagnostic Takeaway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" y="5913239"/>
            <a:ext cx="49149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Transaction volume targets exceeded expectations (+2.91%), yet revenue and profit trailed slightly behind plan due to aggressive discount markdowns.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950" y="1428750"/>
            <a:ext cx="26789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Inter"/>
              </a:rPr>
              <a:t>GROSS TURNOVER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950" y="1619250"/>
            <a:ext cx="2678906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Inter"/>
              </a:rPr>
              <a:t>$12.64M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950" y="1981200"/>
            <a:ext cx="26789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97706"/>
                </a:solidFill>
                <a:latin typeface="Inter"/>
              </a:rPr>
              <a:t>97.25% of Quota ($13M)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9475" y="1428750"/>
            <a:ext cx="26789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Inter"/>
              </a:rPr>
              <a:t>TOTAL ORDERS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9475" y="1619250"/>
            <a:ext cx="2678906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Inter"/>
              </a:rPr>
              <a:t>25,728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9475" y="1981200"/>
            <a:ext cx="26789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59669"/>
                </a:solidFill>
                <a:latin typeface="Inter"/>
              </a:rPr>
              <a:t>102.91% Target Achieved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950" y="3561457"/>
            <a:ext cx="18454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Inter"/>
              </a:rPr>
              <a:t>NET OPERATING PROFIT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0075" y="3561457"/>
            <a:ext cx="144065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"/>
              </a:rPr>
              <a:t>Profit Margin: 11.6%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0159CAD-8798-F84F-84E5-459441182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690" y="1912428"/>
            <a:ext cx="3825572" cy="164606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3961713-30DA-4F2C-FA2F-F89F7F02A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312" y="3787091"/>
            <a:ext cx="3909399" cy="14631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1257300"/>
            <a:ext cx="542925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3695700"/>
            <a:ext cx="5429250" cy="2743200"/>
          </a:xfrm>
          <a:prstGeom prst="roundRect">
            <a:avLst>
              <a:gd name="adj" fmla="val 347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29350" y="1257300"/>
            <a:ext cx="542925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29350" y="3695700"/>
            <a:ext cx="5429250" cy="2743200"/>
          </a:xfrm>
          <a:prstGeom prst="roundRect">
            <a:avLst>
              <a:gd name="adj" fmla="val 347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625" y="2038350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1575" y="2038350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419100"/>
            <a:ext cx="112204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Inter"/>
              </a:rPr>
              <a:t>Multi-Dimensional Breakdown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647700"/>
            <a:ext cx="116586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Regional Sales Concentration &amp; Category Margins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419350"/>
            <a:ext cx="2381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475569"/>
                </a:solidFill>
                <a:latin typeface="Inter"/>
              </a:rPr>
              <a:t>[ PASTE SCREENSHOT HERE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34728" y="2619375"/>
            <a:ext cx="32265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Inter"/>
              </a:rPr>
              <a:t>Figure 2A: Regional Turnover Ranking Bar Chart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3848100"/>
            <a:ext cx="662582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pace Grotesk"/>
              </a:rPr>
              <a:t>Geographic Skew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4086225"/>
            <a:ext cx="514350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Western Europe leads turnover ($1.73M+), followed by Central America ($1.2M+). Peripheral territories like Central Asia and Canada produce under 1.5% each, burdened by high freight friction.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3350" y="2419350"/>
            <a:ext cx="2381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475569"/>
                </a:solidFill>
                <a:latin typeface="Inter"/>
              </a:rPr>
              <a:t>[ PASTE SCREENSHOT HERE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54490" y="2619375"/>
            <a:ext cx="317896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Inter"/>
              </a:rPr>
              <a:t>Figure 2B: Category Sales vs. Profit Correlation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850" y="3848100"/>
            <a:ext cx="5772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pace Grotesk"/>
              </a:rPr>
              <a:t>Category Margin Friction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850" y="4086225"/>
            <a:ext cx="514350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Technology commands healthy profitability ($663K profit on $4.7M sales; 14.1% margin). In contrast, Furniture generates $4.1M+ sales but only ~$285K profit (~7% margin), indicating severe margin leakage.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43F3CCE-F230-5BBE-86F2-4916C5296B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5989" y="1535353"/>
            <a:ext cx="2651990" cy="176799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B3B29F0-EDA2-A5F8-3080-A417B97D34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1811" y="1333500"/>
            <a:ext cx="2629128" cy="21794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1257300"/>
            <a:ext cx="5429250" cy="4351139"/>
          </a:xfrm>
          <a:prstGeom prst="roundRect">
            <a:avLst>
              <a:gd name="adj" fmla="val 2626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5760839"/>
            <a:ext cx="5429250" cy="678060"/>
          </a:xfrm>
          <a:prstGeom prst="roundRect">
            <a:avLst>
              <a:gd name="adj" fmla="val 140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29350" y="1257300"/>
            <a:ext cx="5429250" cy="4164508"/>
          </a:xfrm>
          <a:prstGeom prst="roundRect">
            <a:avLst>
              <a:gd name="adj" fmla="val 2744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29350" y="5574208"/>
            <a:ext cx="5429250" cy="864691"/>
          </a:xfrm>
          <a:prstGeom prst="roundRect">
            <a:avLst>
              <a:gd name="adj" fmla="val 1101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050" y="3061394"/>
            <a:ext cx="361950" cy="3238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2968079"/>
            <a:ext cx="361950" cy="32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419100"/>
            <a:ext cx="112204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Inter"/>
              </a:rPr>
              <a:t>Longitudinal &amp; Cohort Dynamics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647700"/>
            <a:ext cx="116586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Customer Profit Share &amp; Multi-Year Growth Trend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3461444"/>
            <a:ext cx="2381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475569"/>
                </a:solidFill>
                <a:latin typeface="Inter"/>
              </a:rPr>
              <a:t>[ PASTE SCREENSHOT HERE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0415" y="3661469"/>
            <a:ext cx="365521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Inter"/>
              </a:rPr>
              <a:t>Figure 3A: Profit Contribution by Segment Donut Chart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5913239"/>
            <a:ext cx="51435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Segment Mix: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Consumers drive </a:t>
            </a:r>
            <a:r>
              <a:rPr sz="1050" b="1" i="0" u="none">
                <a:solidFill>
                  <a:srgbClr val="334155"/>
                </a:solidFill>
                <a:latin typeface="Inter"/>
              </a:rPr>
              <a:t>51.06%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($749K) of net profit, Corporate generates </a:t>
            </a:r>
            <a:r>
              <a:rPr sz="1050" b="1" i="0" u="none">
                <a:solidFill>
                  <a:srgbClr val="334155"/>
                </a:solidFill>
                <a:latin typeface="Inter"/>
              </a:rPr>
              <a:t>30.07%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($441K), and Home Office contributes </a:t>
            </a:r>
            <a:r>
              <a:rPr sz="1050" b="1" i="0" u="none">
                <a:solidFill>
                  <a:srgbClr val="334155"/>
                </a:solidFill>
                <a:latin typeface="Inter"/>
              </a:rPr>
              <a:t>18.88%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($277K).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53350" y="3368129"/>
            <a:ext cx="2381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475569"/>
                </a:solidFill>
                <a:latin typeface="Inter"/>
              </a:rPr>
              <a:t>[ PASTE SCREENSHOT HERE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678" y="3568154"/>
            <a:ext cx="39885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Inter"/>
              </a:rPr>
              <a:t>Figure 3B: Multi-Year Longitudinal Sales Curve (2014–2017)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850" y="5726608"/>
            <a:ext cx="514350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Expansion Velocity: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Annual turnover grew sustainably from </a:t>
            </a:r>
            <a:r>
              <a:rPr sz="1050" b="1" i="0" u="none">
                <a:solidFill>
                  <a:srgbClr val="334155"/>
                </a:solidFill>
                <a:latin typeface="Inter"/>
              </a:rPr>
              <a:t>~$2.3M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in 2014 to over </a:t>
            </a:r>
            <a:r>
              <a:rPr sz="1050" b="1" i="0" u="none">
                <a:solidFill>
                  <a:srgbClr val="334155"/>
                </a:solidFill>
                <a:latin typeface="Inter"/>
              </a:rPr>
              <a:t>$4.3M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by 2017, confirming strong compound demand across mature accounts.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C55D758-70F9-D8D7-9717-A521204DC0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321" y="2120208"/>
            <a:ext cx="4000847" cy="268247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472A8FF-047D-A83C-BE7B-6A16F7CD04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8746" y="1977234"/>
            <a:ext cx="4465707" cy="27205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2874168"/>
            <a:ext cx="3581400" cy="1947862"/>
          </a:xfrm>
          <a:prstGeom prst="roundRect">
            <a:avLst>
              <a:gd name="adj" fmla="val 5867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05300" y="2874168"/>
            <a:ext cx="3581400" cy="1947862"/>
          </a:xfrm>
          <a:prstGeom prst="roundRect">
            <a:avLst>
              <a:gd name="adj" fmla="val 5867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74168"/>
            <a:ext cx="3581400" cy="1947862"/>
          </a:xfrm>
          <a:prstGeom prst="roundRect">
            <a:avLst>
              <a:gd name="adj" fmla="val 5867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3126581"/>
            <a:ext cx="171450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425" y="3126581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3126581"/>
            <a:ext cx="133350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419100"/>
            <a:ext cx="112204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Inter"/>
              </a:rPr>
              <a:t>Analytical Diagnostic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647700"/>
            <a:ext cx="116586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Evidence-Based SWOT Diagnostic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3112293"/>
            <a:ext cx="19002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66534"/>
                </a:solidFill>
                <a:latin typeface="Space Grotesk"/>
              </a:rPr>
              <a:t>Validated Strengths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3427809"/>
            <a:ext cx="762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14532D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2975" y="3426618"/>
            <a:ext cx="3028950" cy="385762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1" i="0" u="none">
                <a:solidFill>
                  <a:srgbClr val="14532D"/>
                </a:solidFill>
                <a:latin typeface="Inter"/>
              </a:rPr>
              <a:t>Technology Margin:</a:t>
            </a:r>
            <a:r>
              <a:rPr sz="1012" b="0" i="0" u="none">
                <a:solidFill>
                  <a:srgbClr val="14532D"/>
                </a:solidFill>
                <a:latin typeface="Inter"/>
              </a:rPr>
              <a:t> High 14.1% margin contributing $663K profit.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775" y="3813571"/>
            <a:ext cx="762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14532D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2975" y="3812381"/>
            <a:ext cx="3028950" cy="385762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1" i="0" u="none">
                <a:solidFill>
                  <a:srgbClr val="14532D"/>
                </a:solidFill>
                <a:latin typeface="Inter"/>
              </a:rPr>
              <a:t>Volume Quota:</a:t>
            </a:r>
            <a:r>
              <a:rPr sz="1012" b="0" i="0" u="none">
                <a:solidFill>
                  <a:srgbClr val="14532D"/>
                </a:solidFill>
                <a:latin typeface="Inter"/>
              </a:rPr>
              <a:t> Order transactions reached 102.91% of target.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775" y="4199334"/>
            <a:ext cx="762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14532D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2975" y="4198143"/>
            <a:ext cx="3028950" cy="385762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1" i="0" u="none">
                <a:solidFill>
                  <a:srgbClr val="14532D"/>
                </a:solidFill>
                <a:latin typeface="Inter"/>
              </a:rPr>
              <a:t>Regional Scale:</a:t>
            </a:r>
            <a:r>
              <a:rPr sz="1012" b="0" i="0" u="none">
                <a:solidFill>
                  <a:srgbClr val="14532D"/>
                </a:solidFill>
                <a:latin typeface="Inter"/>
              </a:rPr>
              <a:t> Western Europe dominates revenue at $1.73M+.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0125" y="3112293"/>
            <a:ext cx="231278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91B1B"/>
                </a:solidFill>
                <a:latin typeface="Space Grotesk"/>
              </a:rPr>
              <a:t>Operational Weaknesses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8675" y="3427809"/>
            <a:ext cx="762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7F1D1D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14875" y="3426618"/>
            <a:ext cx="3028950" cy="385762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1" i="0" u="none">
                <a:solidFill>
                  <a:srgbClr val="7F1D1D"/>
                </a:solidFill>
                <a:latin typeface="Inter"/>
              </a:rPr>
              <a:t>Furniture Drag:</a:t>
            </a:r>
            <a:r>
              <a:rPr sz="1012" b="0" i="0" u="none">
                <a:solidFill>
                  <a:srgbClr val="7F1D1D"/>
                </a:solidFill>
                <a:latin typeface="Inter"/>
              </a:rPr>
              <a:t> Sinks to ~7% profit margin due to deep discounts.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8675" y="3813571"/>
            <a:ext cx="762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7F1D1D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4875" y="3812381"/>
            <a:ext cx="3028950" cy="385762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1" i="0" u="none">
                <a:solidFill>
                  <a:srgbClr val="7F1D1D"/>
                </a:solidFill>
                <a:latin typeface="Inter"/>
              </a:rPr>
              <a:t>Quota Shortfall:</a:t>
            </a:r>
            <a:r>
              <a:rPr sz="1012" b="0" i="0" u="none">
                <a:solidFill>
                  <a:srgbClr val="7F1D1D"/>
                </a:solidFill>
                <a:latin typeface="Inter"/>
              </a:rPr>
              <a:t> Missed top-line target by 2.75% ($12.64M vs $13M).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8675" y="4199334"/>
            <a:ext cx="762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7F1D1D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14875" y="4198143"/>
            <a:ext cx="3028950" cy="385762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1" i="0" u="none">
                <a:solidFill>
                  <a:srgbClr val="7F1D1D"/>
                </a:solidFill>
                <a:latin typeface="Inter"/>
              </a:rPr>
              <a:t>Territory Skew:</a:t>
            </a:r>
            <a:r>
              <a:rPr sz="1012" b="0" i="0" u="none">
                <a:solidFill>
                  <a:srgbClr val="7F1D1D"/>
                </a:solidFill>
                <a:latin typeface="Inter"/>
              </a:rPr>
              <a:t> Heavy revenue dependency on top 3 territories.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3925" y="3112293"/>
            <a:ext cx="22502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40AF"/>
                </a:solidFill>
                <a:latin typeface="Space Grotesk"/>
              </a:rPr>
              <a:t>Strategic Opportunities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0575" y="3427809"/>
            <a:ext cx="762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1E3A8A"/>
                </a:solidFill>
                <a:latin typeface="Inter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6775" y="3426618"/>
            <a:ext cx="3028950" cy="385762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1" i="0" u="none">
                <a:solidFill>
                  <a:srgbClr val="1E3A8A"/>
                </a:solidFill>
                <a:latin typeface="Inter"/>
              </a:rPr>
              <a:t>Discount Governance:</a:t>
            </a:r>
            <a:r>
              <a:rPr sz="1012" b="0" i="0" u="none">
                <a:solidFill>
                  <a:srgbClr val="1E3A8A"/>
                </a:solidFill>
                <a:latin typeface="Inter"/>
              </a:rPr>
              <a:t> Restrict markdowns on bulky furniture items.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0575" y="3813571"/>
            <a:ext cx="762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1E3A8A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6775" y="3812381"/>
            <a:ext cx="3028950" cy="385762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1" i="0" u="none">
                <a:solidFill>
                  <a:srgbClr val="1E3A8A"/>
                </a:solidFill>
                <a:latin typeface="Inter"/>
              </a:rPr>
              <a:t>B2B Expansion:</a:t>
            </a:r>
            <a:r>
              <a:rPr sz="1012" b="0" i="0" u="none">
                <a:solidFill>
                  <a:srgbClr val="1E3A8A"/>
                </a:solidFill>
                <a:latin typeface="Inter"/>
              </a:rPr>
              <a:t> Scale recurring Corporate segment contracts.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0575" y="4199334"/>
            <a:ext cx="762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1E3A8A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86775" y="4198143"/>
            <a:ext cx="3028950" cy="385762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1" i="0" u="none">
                <a:solidFill>
                  <a:srgbClr val="1E3A8A"/>
                </a:solidFill>
                <a:latin typeface="Inter"/>
              </a:rPr>
              <a:t>Logistics Consolidation:</a:t>
            </a:r>
            <a:r>
              <a:rPr sz="1012" b="0" i="0" u="none">
                <a:solidFill>
                  <a:srgbClr val="1E3A8A"/>
                </a:solidFill>
                <a:latin typeface="Inter"/>
              </a:rPr>
              <a:t> Reduce high freight costs in lagging zones.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789265"/>
            <a:ext cx="10972800" cy="5732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758082"/>
            <a:ext cx="3505200" cy="1425624"/>
          </a:xfrm>
          <a:prstGeom prst="roundRect">
            <a:avLst>
              <a:gd name="adj" fmla="val 6681"/>
            </a:avLst>
          </a:prstGeom>
          <a:solidFill>
            <a:srgbClr val="132238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758082"/>
            <a:ext cx="3505200" cy="1425624"/>
          </a:xfrm>
          <a:prstGeom prst="roundRect">
            <a:avLst>
              <a:gd name="adj" fmla="val 6681"/>
            </a:avLst>
          </a:prstGeom>
          <a:solidFill>
            <a:srgbClr val="132238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758082"/>
            <a:ext cx="3505200" cy="1425624"/>
          </a:xfrm>
          <a:prstGeom prst="roundRect">
            <a:avLst>
              <a:gd name="adj" fmla="val 6681"/>
            </a:avLst>
          </a:prstGeom>
          <a:solidFill>
            <a:srgbClr val="132238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5789265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95300"/>
            <a:ext cx="1106805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Inter"/>
              </a:rPr>
              <a:t>Leadership Action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4295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Space Grotesk"/>
              </a:rPr>
              <a:t>Strategic Interventions &amp; Governance 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989290"/>
            <a:ext cx="790575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Executive Summary: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Power BI diagnostic telemetry confirms strong baseline growth and high customer acquisition, requiring disciplined pricing governance to convert gross turnover into superior operating profit.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15525" y="6099720"/>
            <a:ext cx="208359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Inter"/>
              </a:rPr>
              <a:t>Exp 07 Evaluation 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2958107"/>
            <a:ext cx="38814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Inter"/>
              </a:rPr>
              <a:t>INTERVENTION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186707"/>
            <a:ext cx="407550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Space Grotesk"/>
              </a:rPr>
              <a:t>Dynamic Discount Ceilings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3443882"/>
            <a:ext cx="3200400" cy="539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0" i="0" u="none">
                <a:solidFill>
                  <a:srgbClr val="94A3B8"/>
                </a:solidFill>
                <a:latin typeface="Inter"/>
              </a:rPr>
              <a:t>Enforce strict DAX/ERP rules capping furniture discounting to protect the baseline 12% contribution margin target.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3425" y="2958107"/>
            <a:ext cx="38814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Inter"/>
              </a:rPr>
              <a:t>INTERVENTION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3425" y="3186707"/>
            <a:ext cx="407550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Space Grotesk"/>
              </a:rPr>
              <a:t>Territory Logistics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3425" y="3443882"/>
            <a:ext cx="3200400" cy="539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0" i="0" u="none">
                <a:solidFill>
                  <a:srgbClr val="94A3B8"/>
                </a:solidFill>
                <a:latin typeface="Inter"/>
              </a:rPr>
              <a:t>Optimize regional distribution hubs to reduce shipping overhead in peripheral markets like Canada and Central Asia.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7225" y="2958107"/>
            <a:ext cx="38814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Inter"/>
              </a:rPr>
              <a:t>INTERVENTION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7225" y="3186707"/>
            <a:ext cx="39147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Space Grotesk"/>
              </a:rPr>
              <a:t>Enterprise Tier Incentives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7225" y="3443882"/>
            <a:ext cx="3200400" cy="539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0" i="0" u="none">
                <a:solidFill>
                  <a:srgbClr val="94A3B8"/>
                </a:solidFill>
                <a:latin typeface="Inter"/>
              </a:rPr>
              <a:t>Transition Corporate accounts toward annual rebate structures rather than upfront discounts on high-margin Technology.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566</Words>
  <Application>Microsoft Office PowerPoint</Application>
  <PresentationFormat>Widescreen</PresentationFormat>
  <Paragraphs>78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Space Grotesk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Kushaan</dc:creator>
  <cp:keywords/>
  <dc:description>generated using python-pptx</dc:description>
  <cp:lastModifiedBy>Kushaan Aggarwal</cp:lastModifiedBy>
  <cp:revision>2</cp:revision>
  <dcterms:created xsi:type="dcterms:W3CDTF">2013-01-27T09:14:16Z</dcterms:created>
  <dcterms:modified xsi:type="dcterms:W3CDTF">2026-10-30T06:57:14Z</dcterms:modified>
  <cp:category/>
</cp:coreProperties>
</file>